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746299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2385689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4032299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442E7D6-2B84-49F8-B908-524AEEEDCF28}" type="datetimeFigureOut">
              <a:rPr lang="es-CO" smtClean="0"/>
              <a:t>23/05/2026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308807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442E7D6-2B84-49F8-B908-524AEEEDCF28}" type="datetimeFigureOut">
              <a:rPr lang="es-CO" smtClean="0"/>
              <a:t>23/05/2026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3946870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7" name="Date Placeholder 2"/>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3"/>
          <p:cNvSpPr>
            <a:spLocks noGrp="1"/>
          </p:cNvSpPr>
          <p:nvPr>
            <p:ph type="ftr" sz="quarter" idx="11"/>
          </p:nvPr>
        </p:nvSpPr>
        <p:spPr/>
        <p:txBody>
          <a:bodyPr/>
          <a:lstStyle/>
          <a:p>
            <a:endParaRPr lang="es-CO"/>
          </a:p>
        </p:txBody>
      </p:sp>
      <p:sp>
        <p:nvSpPr>
          <p:cNvPr id="6" name="Slide Number Placeholder 4"/>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20760898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2"/>
          <p:cNvSpPr>
            <a:spLocks noGrp="1"/>
          </p:cNvSpPr>
          <p:nvPr>
            <p:ph type="ftr" sz="quarter" idx="11"/>
          </p:nvPr>
        </p:nvSpPr>
        <p:spPr/>
        <p:txBody>
          <a:bodyPr/>
          <a:lstStyle/>
          <a:p>
            <a:endParaRPr lang="es-CO"/>
          </a:p>
        </p:txBody>
      </p:sp>
      <p:sp>
        <p:nvSpPr>
          <p:cNvPr id="6" name="Slide Number Placeholder 3"/>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39632219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7" name="Date Placeholder 4"/>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5"/>
          <p:cNvSpPr>
            <a:spLocks noGrp="1"/>
          </p:cNvSpPr>
          <p:nvPr>
            <p:ph type="ftr" sz="quarter" idx="11"/>
          </p:nvPr>
        </p:nvSpPr>
        <p:spPr/>
        <p:txBody>
          <a:bodyPr/>
          <a:lstStyle/>
          <a:p>
            <a:endParaRPr lang="es-CO"/>
          </a:p>
        </p:txBody>
      </p:sp>
      <p:sp>
        <p:nvSpPr>
          <p:cNvPr id="6" name="Slide Number Placeholder 6"/>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1946088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442E7D6-2B84-49F8-B908-524AEEEDCF28}" type="datetimeFigureOut">
              <a:rPr lang="es-CO" smtClean="0"/>
              <a:t>23/05/2026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25947422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442E7D6-2B84-49F8-B908-524AEEEDCF28}" type="datetimeFigureOut">
              <a:rPr lang="es-CO" smtClean="0"/>
              <a:t>23/05/2026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309085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30201605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s-ES"/>
              <a:t>Haga clic para modificar el estilo de título del patrón</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s-ES"/>
              <a:t>Haga clic para modificar los estilos de texto del patrón</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4101234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42574955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4"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9225146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4"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19526527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nchorCtr="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8184173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442E7D6-2B84-49F8-B908-524AEEEDCF28}" type="datetimeFigureOut">
              <a:rPr lang="es-CO" smtClean="0"/>
              <a:t>23/05/2026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A7133C74-6002-4491-BCAC-3D7995161AE5}" type="slidenum">
              <a:rPr lang="es-CO" smtClean="0"/>
              <a:t>‹Nº›</a:t>
            </a:fld>
            <a:endParaRPr lang="es-CO"/>
          </a:p>
        </p:txBody>
      </p:sp>
    </p:spTree>
    <p:extLst>
      <p:ext uri="{BB962C8B-B14F-4D97-AF65-F5344CB8AC3E}">
        <p14:creationId xmlns:p14="http://schemas.microsoft.com/office/powerpoint/2010/main" val="20390415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442E7D6-2B84-49F8-B908-524AEEEDCF28}" type="datetimeFigureOut">
              <a:rPr lang="es-CO" smtClean="0"/>
              <a:t>23/05/2026</a:t>
            </a:fld>
            <a:endParaRPr lang="es-CO"/>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s-CO"/>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7133C74-6002-4491-BCAC-3D7995161AE5}" type="slidenum">
              <a:rPr lang="es-CO" smtClean="0"/>
              <a:t>‹Nº›</a:t>
            </a:fld>
            <a:endParaRPr lang="es-CO"/>
          </a:p>
        </p:txBody>
      </p:sp>
    </p:spTree>
    <p:extLst>
      <p:ext uri="{BB962C8B-B14F-4D97-AF65-F5344CB8AC3E}">
        <p14:creationId xmlns:p14="http://schemas.microsoft.com/office/powerpoint/2010/main" val="237891675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67FE23-81C0-407C-B37C-B25A7676E214}"/>
              </a:ext>
            </a:extLst>
          </p:cNvPr>
          <p:cNvSpPr>
            <a:spLocks noGrp="1"/>
          </p:cNvSpPr>
          <p:nvPr>
            <p:ph type="ctrTitle"/>
          </p:nvPr>
        </p:nvSpPr>
        <p:spPr>
          <a:xfrm>
            <a:off x="1154954" y="1447800"/>
            <a:ext cx="11341845" cy="2783541"/>
          </a:xfrm>
        </p:spPr>
        <p:txBody>
          <a:bodyPr/>
          <a:lstStyle/>
          <a:p>
            <a:r>
              <a:rPr lang="es-MX" dirty="0"/>
              <a:t>Metodologías de desarrollo de software- tradicional-Incremental</a:t>
            </a:r>
            <a:endParaRPr lang="es-CO" dirty="0"/>
          </a:p>
        </p:txBody>
      </p:sp>
      <p:sp>
        <p:nvSpPr>
          <p:cNvPr id="3" name="Subtítulo 2">
            <a:extLst>
              <a:ext uri="{FF2B5EF4-FFF2-40B4-BE49-F238E27FC236}">
                <a16:creationId xmlns:a16="http://schemas.microsoft.com/office/drawing/2014/main" id="{81CAB331-EDF1-411E-B9CA-1CB0895797C8}"/>
              </a:ext>
            </a:extLst>
          </p:cNvPr>
          <p:cNvSpPr>
            <a:spLocks noGrp="1"/>
          </p:cNvSpPr>
          <p:nvPr>
            <p:ph type="subTitle" idx="1"/>
          </p:nvPr>
        </p:nvSpPr>
        <p:spPr>
          <a:xfrm>
            <a:off x="1154954" y="4777379"/>
            <a:ext cx="10203327" cy="1686173"/>
          </a:xfrm>
        </p:spPr>
        <p:txBody>
          <a:bodyPr>
            <a:normAutofit/>
          </a:bodyPr>
          <a:lstStyle/>
          <a:p>
            <a:r>
              <a:rPr lang="es-MX" dirty="0"/>
              <a:t>Johan David Rodríguez</a:t>
            </a:r>
          </a:p>
          <a:p>
            <a:r>
              <a:rPr lang="es-MX" dirty="0"/>
              <a:t>Jackson Samudio</a:t>
            </a:r>
          </a:p>
          <a:p>
            <a:r>
              <a:rPr lang="es-MX" dirty="0"/>
              <a:t>John alexander romero</a:t>
            </a:r>
            <a:endParaRPr lang="es-CO" dirty="0"/>
          </a:p>
        </p:txBody>
      </p:sp>
    </p:spTree>
    <p:extLst>
      <p:ext uri="{BB962C8B-B14F-4D97-AF65-F5344CB8AC3E}">
        <p14:creationId xmlns:p14="http://schemas.microsoft.com/office/powerpoint/2010/main" val="12356819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AF4515-4499-4767-BE95-B1E1BEEA3862}"/>
              </a:ext>
            </a:extLst>
          </p:cNvPr>
          <p:cNvSpPr>
            <a:spLocks noGrp="1"/>
          </p:cNvSpPr>
          <p:nvPr>
            <p:ph type="title"/>
          </p:nvPr>
        </p:nvSpPr>
        <p:spPr/>
        <p:txBody>
          <a:bodyPr/>
          <a:lstStyle/>
          <a:p>
            <a:r>
              <a:rPr lang="es-CO" dirty="0"/>
              <a:t>tradicional-Incremental</a:t>
            </a:r>
          </a:p>
        </p:txBody>
      </p:sp>
      <p:sp>
        <p:nvSpPr>
          <p:cNvPr id="3" name="Marcador de contenido 2">
            <a:extLst>
              <a:ext uri="{FF2B5EF4-FFF2-40B4-BE49-F238E27FC236}">
                <a16:creationId xmlns:a16="http://schemas.microsoft.com/office/drawing/2014/main" id="{1E61FACF-818D-4AA5-9A43-81D139052C79}"/>
              </a:ext>
            </a:extLst>
          </p:cNvPr>
          <p:cNvSpPr>
            <a:spLocks noGrp="1"/>
          </p:cNvSpPr>
          <p:nvPr>
            <p:ph sz="half" idx="1"/>
          </p:nvPr>
        </p:nvSpPr>
        <p:spPr>
          <a:xfrm>
            <a:off x="286872" y="1990165"/>
            <a:ext cx="5212780" cy="4266173"/>
          </a:xfrm>
        </p:spPr>
        <p:txBody>
          <a:bodyPr/>
          <a:lstStyle/>
          <a:p>
            <a:r>
              <a:rPr lang="es-MX" dirty="0"/>
              <a:t>La metodología incremental es un modelo tradicional de desarrollo de software que divide el proyecto en pequeños módulos entregados progresivamente, teniendo el objetivo principal  de permitir que el cliente disponga de funcionalidades útiles desde etapas tempranas y que el producto se vaya ampliando paso a paso.</a:t>
            </a:r>
            <a:endParaRPr lang="es-CO" dirty="0"/>
          </a:p>
        </p:txBody>
      </p:sp>
      <p:pic>
        <p:nvPicPr>
          <p:cNvPr id="10" name="Marcador de contenido 9">
            <a:extLst>
              <a:ext uri="{FF2B5EF4-FFF2-40B4-BE49-F238E27FC236}">
                <a16:creationId xmlns:a16="http://schemas.microsoft.com/office/drawing/2014/main" id="{3104C52A-D0C8-4E72-84FD-3E15C0AC2322}"/>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567548" y="1771068"/>
            <a:ext cx="6337580" cy="3315863"/>
          </a:xfrm>
        </p:spPr>
      </p:pic>
    </p:spTree>
    <p:extLst>
      <p:ext uri="{BB962C8B-B14F-4D97-AF65-F5344CB8AC3E}">
        <p14:creationId xmlns:p14="http://schemas.microsoft.com/office/powerpoint/2010/main" val="4756167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AF4515-4499-4767-BE95-B1E1BEEA3862}"/>
              </a:ext>
            </a:extLst>
          </p:cNvPr>
          <p:cNvSpPr>
            <a:spLocks noGrp="1"/>
          </p:cNvSpPr>
          <p:nvPr>
            <p:ph type="title"/>
          </p:nvPr>
        </p:nvSpPr>
        <p:spPr/>
        <p:txBody>
          <a:bodyPr/>
          <a:lstStyle/>
          <a:p>
            <a:r>
              <a:rPr lang="es-CO" dirty="0"/>
              <a:t>tradicional-Incremental</a:t>
            </a:r>
          </a:p>
        </p:txBody>
      </p:sp>
      <p:sp>
        <p:nvSpPr>
          <p:cNvPr id="3" name="Marcador de contenido 2">
            <a:extLst>
              <a:ext uri="{FF2B5EF4-FFF2-40B4-BE49-F238E27FC236}">
                <a16:creationId xmlns:a16="http://schemas.microsoft.com/office/drawing/2014/main" id="{1E61FACF-818D-4AA5-9A43-81D139052C79}"/>
              </a:ext>
            </a:extLst>
          </p:cNvPr>
          <p:cNvSpPr>
            <a:spLocks noGrp="1"/>
          </p:cNvSpPr>
          <p:nvPr>
            <p:ph sz="half" idx="1"/>
          </p:nvPr>
        </p:nvSpPr>
        <p:spPr>
          <a:xfrm>
            <a:off x="286872" y="1990165"/>
            <a:ext cx="5212780" cy="4266173"/>
          </a:xfrm>
        </p:spPr>
        <p:txBody>
          <a:bodyPr/>
          <a:lstStyle/>
          <a:p>
            <a:r>
              <a:rPr lang="es-MX" dirty="0"/>
              <a:t>El modelo incremental consiste en construir el sistema en partes sucesivas.</a:t>
            </a:r>
          </a:p>
          <a:p>
            <a:endParaRPr lang="es-MX" dirty="0"/>
          </a:p>
          <a:p>
            <a:r>
              <a:rPr lang="es-MX" dirty="0"/>
              <a:t>Cada incremento añade nuevas funciones sobre la versión anterior, hasta completar el sistema final.</a:t>
            </a:r>
          </a:p>
          <a:p>
            <a:endParaRPr lang="es-MX" dirty="0"/>
          </a:p>
          <a:p>
            <a:r>
              <a:rPr lang="es-MX" dirty="0"/>
              <a:t>El primer incremento suele ser un núcleo básico que cubre los requisitos esenciales.</a:t>
            </a:r>
          </a:p>
          <a:p>
            <a:endParaRPr lang="es-CO" dirty="0"/>
          </a:p>
        </p:txBody>
      </p:sp>
      <p:pic>
        <p:nvPicPr>
          <p:cNvPr id="8" name="Marcador de contenido 7">
            <a:extLst>
              <a:ext uri="{FF2B5EF4-FFF2-40B4-BE49-F238E27FC236}">
                <a16:creationId xmlns:a16="http://schemas.microsoft.com/office/drawing/2014/main" id="{492A7BC5-47B0-4D10-9FEB-F199B173658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878791" y="1161480"/>
            <a:ext cx="6250453" cy="4687840"/>
          </a:xfrm>
        </p:spPr>
      </p:pic>
    </p:spTree>
    <p:extLst>
      <p:ext uri="{BB962C8B-B14F-4D97-AF65-F5344CB8AC3E}">
        <p14:creationId xmlns:p14="http://schemas.microsoft.com/office/powerpoint/2010/main" val="216595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AF4515-4499-4767-BE95-B1E1BEEA3862}"/>
              </a:ext>
            </a:extLst>
          </p:cNvPr>
          <p:cNvSpPr>
            <a:spLocks noGrp="1"/>
          </p:cNvSpPr>
          <p:nvPr>
            <p:ph type="title"/>
          </p:nvPr>
        </p:nvSpPr>
        <p:spPr>
          <a:xfrm>
            <a:off x="646111" y="452718"/>
            <a:ext cx="11151442" cy="1400530"/>
          </a:xfrm>
        </p:spPr>
        <p:txBody>
          <a:bodyPr/>
          <a:lstStyle/>
          <a:p>
            <a:r>
              <a:rPr lang="es-CO" dirty="0"/>
              <a:t>Tradicional – Incremental - Ventajas</a:t>
            </a:r>
          </a:p>
        </p:txBody>
      </p:sp>
      <p:sp>
        <p:nvSpPr>
          <p:cNvPr id="3" name="Marcador de contenido 2">
            <a:extLst>
              <a:ext uri="{FF2B5EF4-FFF2-40B4-BE49-F238E27FC236}">
                <a16:creationId xmlns:a16="http://schemas.microsoft.com/office/drawing/2014/main" id="{1E61FACF-818D-4AA5-9A43-81D139052C79}"/>
              </a:ext>
            </a:extLst>
          </p:cNvPr>
          <p:cNvSpPr>
            <a:spLocks noGrp="1"/>
          </p:cNvSpPr>
          <p:nvPr>
            <p:ph sz="half" idx="1"/>
          </p:nvPr>
        </p:nvSpPr>
        <p:spPr>
          <a:xfrm>
            <a:off x="286872" y="1990165"/>
            <a:ext cx="5212780" cy="4266173"/>
          </a:xfrm>
        </p:spPr>
        <p:txBody>
          <a:bodyPr>
            <a:normAutofit lnSpcReduction="10000"/>
          </a:bodyPr>
          <a:lstStyle/>
          <a:p>
            <a:r>
              <a:rPr lang="es-MX" dirty="0"/>
              <a:t>Entrega temprana de valor: el cliente recibe un producto funcional desde el inicio.</a:t>
            </a:r>
          </a:p>
          <a:p>
            <a:endParaRPr lang="es-MX" dirty="0"/>
          </a:p>
          <a:p>
            <a:r>
              <a:rPr lang="es-MX" dirty="0"/>
              <a:t>Flexibilidad: se pueden añadir nuevas funciones en cada incremento.</a:t>
            </a:r>
          </a:p>
          <a:p>
            <a:endParaRPr lang="es-MX" dirty="0"/>
          </a:p>
          <a:p>
            <a:r>
              <a:rPr lang="es-MX" dirty="0"/>
              <a:t>Menor riesgo: los errores se detectan en etapas cortas.</a:t>
            </a:r>
          </a:p>
          <a:p>
            <a:endParaRPr lang="es-MX" dirty="0"/>
          </a:p>
          <a:p>
            <a:r>
              <a:rPr lang="es-MX" dirty="0"/>
              <a:t>Adecuado para equipos con poca experiencia: simplifica el desarrollo en pasos pequeños.</a:t>
            </a:r>
          </a:p>
          <a:p>
            <a:endParaRPr lang="es-CO" dirty="0"/>
          </a:p>
        </p:txBody>
      </p:sp>
      <p:pic>
        <p:nvPicPr>
          <p:cNvPr id="7" name="Marcador de contenido 5">
            <a:extLst>
              <a:ext uri="{FF2B5EF4-FFF2-40B4-BE49-F238E27FC236}">
                <a16:creationId xmlns:a16="http://schemas.microsoft.com/office/drawing/2014/main" id="{E01893C4-173B-4B2E-BCB1-2134A6B2BC25}"/>
              </a:ext>
            </a:extLst>
          </p:cNvPr>
          <p:cNvPicPr>
            <a:picLocks noGrp="1" noChangeAspect="1"/>
          </p:cNvPicPr>
          <p:nvPr>
            <p:ph sz="half" idx="2"/>
          </p:nvPr>
        </p:nvPicPr>
        <p:blipFill>
          <a:blip r:embed="rId2"/>
          <a:stretch>
            <a:fillRect/>
          </a:stretch>
        </p:blipFill>
        <p:spPr>
          <a:xfrm>
            <a:off x="5818740" y="1639050"/>
            <a:ext cx="6193965" cy="4463622"/>
          </a:xfrm>
        </p:spPr>
      </p:pic>
    </p:spTree>
    <p:extLst>
      <p:ext uri="{BB962C8B-B14F-4D97-AF65-F5344CB8AC3E}">
        <p14:creationId xmlns:p14="http://schemas.microsoft.com/office/powerpoint/2010/main" val="3286014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AF4515-4499-4767-BE95-B1E1BEEA3862}"/>
              </a:ext>
            </a:extLst>
          </p:cNvPr>
          <p:cNvSpPr>
            <a:spLocks noGrp="1"/>
          </p:cNvSpPr>
          <p:nvPr>
            <p:ph type="title"/>
          </p:nvPr>
        </p:nvSpPr>
        <p:spPr>
          <a:xfrm>
            <a:off x="646111" y="452718"/>
            <a:ext cx="11151442" cy="1400530"/>
          </a:xfrm>
        </p:spPr>
        <p:txBody>
          <a:bodyPr/>
          <a:lstStyle/>
          <a:p>
            <a:r>
              <a:rPr lang="es-CO" dirty="0"/>
              <a:t>Tradicional – Incremental – Desventajas </a:t>
            </a:r>
          </a:p>
        </p:txBody>
      </p:sp>
      <p:sp>
        <p:nvSpPr>
          <p:cNvPr id="3" name="Marcador de contenido 2">
            <a:extLst>
              <a:ext uri="{FF2B5EF4-FFF2-40B4-BE49-F238E27FC236}">
                <a16:creationId xmlns:a16="http://schemas.microsoft.com/office/drawing/2014/main" id="{1E61FACF-818D-4AA5-9A43-81D139052C79}"/>
              </a:ext>
            </a:extLst>
          </p:cNvPr>
          <p:cNvSpPr>
            <a:spLocks noGrp="1"/>
          </p:cNvSpPr>
          <p:nvPr>
            <p:ph sz="half" idx="1"/>
          </p:nvPr>
        </p:nvSpPr>
        <p:spPr>
          <a:xfrm>
            <a:off x="286872" y="1990165"/>
            <a:ext cx="5212780" cy="4266173"/>
          </a:xfrm>
        </p:spPr>
        <p:txBody>
          <a:bodyPr>
            <a:normAutofit/>
          </a:bodyPr>
          <a:lstStyle/>
          <a:p>
            <a:r>
              <a:rPr lang="es-MX" dirty="0"/>
              <a:t>Requiere buena planificación: cada incremento debe estar bien definido.</a:t>
            </a:r>
          </a:p>
          <a:p>
            <a:endParaRPr lang="es-MX" dirty="0"/>
          </a:p>
          <a:p>
            <a:r>
              <a:rPr lang="es-MX" dirty="0"/>
              <a:t>Cambios limitados: una vez entregado un incremento, no se puede modificar fácilmente.</a:t>
            </a:r>
          </a:p>
          <a:p>
            <a:endParaRPr lang="es-MX" dirty="0"/>
          </a:p>
          <a:p>
            <a:r>
              <a:rPr lang="es-MX" dirty="0"/>
              <a:t>Dependencia de la arquitectura inicial: si el diseño base es débil, los problemas se arrastran en todos los módulos.</a:t>
            </a:r>
          </a:p>
        </p:txBody>
      </p:sp>
      <p:pic>
        <p:nvPicPr>
          <p:cNvPr id="5" name="Imagen 4">
            <a:extLst>
              <a:ext uri="{FF2B5EF4-FFF2-40B4-BE49-F238E27FC236}">
                <a16:creationId xmlns:a16="http://schemas.microsoft.com/office/drawing/2014/main" id="{CFB5A443-09FF-4C77-A665-249263DF581A}"/>
              </a:ext>
            </a:extLst>
          </p:cNvPr>
          <p:cNvPicPr>
            <a:picLocks noChangeAspect="1"/>
          </p:cNvPicPr>
          <p:nvPr/>
        </p:nvPicPr>
        <p:blipFill>
          <a:blip r:embed="rId2"/>
          <a:stretch>
            <a:fillRect/>
          </a:stretch>
        </p:blipFill>
        <p:spPr>
          <a:xfrm>
            <a:off x="7291775" y="1564704"/>
            <a:ext cx="4056865" cy="4840578"/>
          </a:xfrm>
          <a:prstGeom prst="rect">
            <a:avLst/>
          </a:prstGeom>
        </p:spPr>
      </p:pic>
    </p:spTree>
    <p:extLst>
      <p:ext uri="{BB962C8B-B14F-4D97-AF65-F5344CB8AC3E}">
        <p14:creationId xmlns:p14="http://schemas.microsoft.com/office/powerpoint/2010/main" val="4168945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AF4515-4499-4767-BE95-B1E1BEEA3862}"/>
              </a:ext>
            </a:extLst>
          </p:cNvPr>
          <p:cNvSpPr>
            <a:spLocks noGrp="1"/>
          </p:cNvSpPr>
          <p:nvPr>
            <p:ph type="title"/>
          </p:nvPr>
        </p:nvSpPr>
        <p:spPr>
          <a:xfrm>
            <a:off x="646111" y="452718"/>
            <a:ext cx="11151442" cy="1400530"/>
          </a:xfrm>
        </p:spPr>
        <p:txBody>
          <a:bodyPr/>
          <a:lstStyle/>
          <a:p>
            <a:r>
              <a:rPr lang="es-CO" dirty="0"/>
              <a:t>Ejemplo práctico</a:t>
            </a:r>
          </a:p>
        </p:txBody>
      </p:sp>
      <p:sp>
        <p:nvSpPr>
          <p:cNvPr id="3" name="Marcador de contenido 2">
            <a:extLst>
              <a:ext uri="{FF2B5EF4-FFF2-40B4-BE49-F238E27FC236}">
                <a16:creationId xmlns:a16="http://schemas.microsoft.com/office/drawing/2014/main" id="{1E61FACF-818D-4AA5-9A43-81D139052C79}"/>
              </a:ext>
            </a:extLst>
          </p:cNvPr>
          <p:cNvSpPr>
            <a:spLocks noGrp="1"/>
          </p:cNvSpPr>
          <p:nvPr>
            <p:ph sz="half" idx="1"/>
          </p:nvPr>
        </p:nvSpPr>
        <p:spPr>
          <a:xfrm>
            <a:off x="286872" y="1990165"/>
            <a:ext cx="5212780" cy="4266173"/>
          </a:xfrm>
        </p:spPr>
        <p:txBody>
          <a:bodyPr>
            <a:normAutofit fontScale="85000" lnSpcReduction="10000"/>
          </a:bodyPr>
          <a:lstStyle/>
          <a:p>
            <a:r>
              <a:rPr lang="es-MX" dirty="0"/>
              <a:t>Ejemplo práctico </a:t>
            </a:r>
          </a:p>
          <a:p>
            <a:r>
              <a:rPr lang="es-MX" dirty="0"/>
              <a:t>Imagina que una empresa quiere un sistema de ventas:</a:t>
            </a:r>
          </a:p>
          <a:p>
            <a:endParaRPr lang="es-MX" dirty="0"/>
          </a:p>
          <a:p>
            <a:r>
              <a:rPr lang="es-MX" dirty="0"/>
              <a:t>Incremento 1: módulo de registro de clientes.</a:t>
            </a:r>
          </a:p>
          <a:p>
            <a:endParaRPr lang="es-MX" dirty="0"/>
          </a:p>
          <a:p>
            <a:r>
              <a:rPr lang="es-MX" dirty="0"/>
              <a:t>Incremento 2: módulo de productos e inventario.</a:t>
            </a:r>
          </a:p>
          <a:p>
            <a:endParaRPr lang="es-MX" dirty="0"/>
          </a:p>
          <a:p>
            <a:r>
              <a:rPr lang="es-MX" dirty="0"/>
              <a:t>Incremento 3: módulo de facturación y reportes.</a:t>
            </a:r>
          </a:p>
          <a:p>
            <a:endParaRPr lang="es-MX" dirty="0"/>
          </a:p>
          <a:p>
            <a:r>
              <a:rPr lang="es-MX" dirty="0"/>
              <a:t>Cada entrega permite usar el sistema parcialmente, mientras se agregan nuevas funciones.</a:t>
            </a:r>
          </a:p>
        </p:txBody>
      </p:sp>
      <p:sp>
        <p:nvSpPr>
          <p:cNvPr id="6" name="Marcador de contenido 2">
            <a:extLst>
              <a:ext uri="{FF2B5EF4-FFF2-40B4-BE49-F238E27FC236}">
                <a16:creationId xmlns:a16="http://schemas.microsoft.com/office/drawing/2014/main" id="{D367789D-B3E0-4AE6-941A-1759792967BA}"/>
              </a:ext>
            </a:extLst>
          </p:cNvPr>
          <p:cNvSpPr txBox="1">
            <a:spLocks/>
          </p:cNvSpPr>
          <p:nvPr/>
        </p:nvSpPr>
        <p:spPr>
          <a:xfrm>
            <a:off x="5978806" y="1782967"/>
            <a:ext cx="5961529" cy="4622315"/>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200" b="0" i="0" kern="1200">
                <a:solidFill>
                  <a:schemeClr val="tx1"/>
                </a:solidFill>
                <a:latin typeface="+mj-lt"/>
                <a:ea typeface="+mj-ea"/>
                <a:cs typeface="+mj-cs"/>
              </a:defRPr>
            </a:lvl9pPr>
          </a:lstStyle>
          <a:p>
            <a:r>
              <a:rPr lang="es-MX" dirty="0"/>
              <a:t>Fases principales</a:t>
            </a:r>
          </a:p>
          <a:p>
            <a:r>
              <a:rPr lang="es-MX" dirty="0"/>
              <a:t>Requisitos → Se agrupan y priorizan los más importantes.</a:t>
            </a:r>
          </a:p>
          <a:p>
            <a:endParaRPr lang="es-MX" dirty="0"/>
          </a:p>
          <a:p>
            <a:r>
              <a:rPr lang="es-MX" dirty="0"/>
              <a:t>Diseño → Se planifica cómo implementar esos requisitos en módulos.</a:t>
            </a:r>
          </a:p>
          <a:p>
            <a:endParaRPr lang="es-MX" dirty="0"/>
          </a:p>
          <a:p>
            <a:r>
              <a:rPr lang="es-MX" dirty="0"/>
              <a:t>Codificación → Se desarrolla el software en pequeñas entregas.</a:t>
            </a:r>
          </a:p>
          <a:p>
            <a:endParaRPr lang="es-MX" dirty="0"/>
          </a:p>
          <a:p>
            <a:r>
              <a:rPr lang="es-MX" dirty="0"/>
              <a:t>Pruebas → Cada incremento se valida antes de avanzar.</a:t>
            </a:r>
          </a:p>
          <a:p>
            <a:endParaRPr lang="es-MX" dirty="0"/>
          </a:p>
          <a:p>
            <a:r>
              <a:rPr lang="es-MX" dirty="0"/>
              <a:t>Implementación → Se entrega al cliente y se prepara el siguiente ciclo.</a:t>
            </a:r>
          </a:p>
        </p:txBody>
      </p:sp>
    </p:spTree>
    <p:extLst>
      <p:ext uri="{BB962C8B-B14F-4D97-AF65-F5344CB8AC3E}">
        <p14:creationId xmlns:p14="http://schemas.microsoft.com/office/powerpoint/2010/main" val="3010517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9F5EBB86-589C-4493-8711-22D6C41B8904}"/>
              </a:ext>
            </a:extLst>
          </p:cNvPr>
          <p:cNvPicPr>
            <a:picLocks noChangeAspect="1"/>
          </p:cNvPicPr>
          <p:nvPr/>
        </p:nvPicPr>
        <p:blipFill>
          <a:blip r:embed="rId2"/>
          <a:stretch>
            <a:fillRect/>
          </a:stretch>
        </p:blipFill>
        <p:spPr>
          <a:xfrm>
            <a:off x="1246094" y="769152"/>
            <a:ext cx="10284964" cy="5640613"/>
          </a:xfrm>
          <a:prstGeom prst="rect">
            <a:avLst/>
          </a:prstGeom>
        </p:spPr>
      </p:pic>
      <p:sp>
        <p:nvSpPr>
          <p:cNvPr id="11" name="Rectángulo: esquinas redondeadas 10">
            <a:extLst>
              <a:ext uri="{FF2B5EF4-FFF2-40B4-BE49-F238E27FC236}">
                <a16:creationId xmlns:a16="http://schemas.microsoft.com/office/drawing/2014/main" id="{BA43B32D-983F-428E-ACD9-DE844898EDE1}"/>
              </a:ext>
            </a:extLst>
          </p:cNvPr>
          <p:cNvSpPr/>
          <p:nvPr/>
        </p:nvSpPr>
        <p:spPr>
          <a:xfrm>
            <a:off x="4805082" y="5334000"/>
            <a:ext cx="3352800" cy="726141"/>
          </a:xfrm>
          <a:prstGeom prst="roundRect">
            <a:avLst/>
          </a:prstGeom>
        </p:spPr>
        <p:style>
          <a:lnRef idx="1">
            <a:schemeClr val="dk1"/>
          </a:lnRef>
          <a:fillRef idx="3">
            <a:schemeClr val="dk1"/>
          </a:fillRef>
          <a:effectRef idx="2">
            <a:schemeClr val="dk1"/>
          </a:effectRef>
          <a:fontRef idx="minor">
            <a:schemeClr val="lt1"/>
          </a:fontRef>
        </p:style>
        <p:txBody>
          <a:bodyPr rtlCol="0" anchor="ctr"/>
          <a:lstStyle/>
          <a:p>
            <a:pPr algn="ctr"/>
            <a:endParaRPr lang="es-CO"/>
          </a:p>
        </p:txBody>
      </p:sp>
      <p:sp>
        <p:nvSpPr>
          <p:cNvPr id="12" name="Rectángulo: esquinas redondeadas 11">
            <a:extLst>
              <a:ext uri="{FF2B5EF4-FFF2-40B4-BE49-F238E27FC236}">
                <a16:creationId xmlns:a16="http://schemas.microsoft.com/office/drawing/2014/main" id="{125A3668-1F21-4882-9855-08E09FA5B35A}"/>
              </a:ext>
            </a:extLst>
          </p:cNvPr>
          <p:cNvSpPr/>
          <p:nvPr/>
        </p:nvSpPr>
        <p:spPr>
          <a:xfrm>
            <a:off x="6517341" y="3429000"/>
            <a:ext cx="5013717" cy="2980765"/>
          </a:xfrm>
          <a:prstGeom prst="round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s-MX" sz="7200" dirty="0"/>
              <a:t>GRACIAS </a:t>
            </a:r>
            <a:endParaRPr lang="es-CO" sz="7200" dirty="0"/>
          </a:p>
        </p:txBody>
      </p:sp>
    </p:spTree>
    <p:extLst>
      <p:ext uri="{BB962C8B-B14F-4D97-AF65-F5344CB8AC3E}">
        <p14:creationId xmlns:p14="http://schemas.microsoft.com/office/powerpoint/2010/main" val="20864574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26</TotalTime>
  <Words>327</Words>
  <Application>Microsoft Office PowerPoint</Application>
  <PresentationFormat>Panorámica</PresentationFormat>
  <Paragraphs>48</Paragraphs>
  <Slides>7</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7</vt:i4>
      </vt:variant>
    </vt:vector>
  </HeadingPairs>
  <TitlesOfParts>
    <vt:vector size="11" baseType="lpstr">
      <vt:lpstr>Arial</vt:lpstr>
      <vt:lpstr>Century Gothic</vt:lpstr>
      <vt:lpstr>Wingdings 3</vt:lpstr>
      <vt:lpstr>Ion</vt:lpstr>
      <vt:lpstr>Metodologías de desarrollo de software- tradicional-Incremental</vt:lpstr>
      <vt:lpstr>tradicional-Incremental</vt:lpstr>
      <vt:lpstr>tradicional-Incremental</vt:lpstr>
      <vt:lpstr>Tradicional – Incremental - Ventajas</vt:lpstr>
      <vt:lpstr>Tradicional – Incremental – Desventajas </vt:lpstr>
      <vt:lpstr>Ejemplo práctico</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Metodologías de desarrollo de software- tradicional-Incremental</dc:title>
  <dc:creator>User</dc:creator>
  <cp:lastModifiedBy>User</cp:lastModifiedBy>
  <cp:revision>4</cp:revision>
  <dcterms:created xsi:type="dcterms:W3CDTF">2026-05-23T12:06:03Z</dcterms:created>
  <dcterms:modified xsi:type="dcterms:W3CDTF">2026-05-23T12:32:22Z</dcterms:modified>
</cp:coreProperties>
</file>